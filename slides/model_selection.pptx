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719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Model Should I Use?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Framework for Applied Machine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4572000" cy="0"/>
          </a:xfrm>
          <a:prstGeom prst="line">
            <a:avLst/>
          </a:prstGeom>
          <a:noFill/>
          <a:ln w="254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Dataset Size · Feature Count · Outcome Type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Strategy · Uncertainty Quantification · Fairness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Model-Neutral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576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that belong in every project, regardless of model choice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088136" cy="19202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7220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7220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initial_split()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= 0.8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71016" y="1828800"/>
            <a:ext cx="54864" cy="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16736" y="1764792"/>
            <a:ext cx="9144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868680"/>
            <a:ext cx="1088136" cy="19202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78508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78508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72184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step_*()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32304" y="1828800"/>
            <a:ext cx="54864" cy="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78024" y="1764792"/>
            <a:ext cx="9144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78608" y="868680"/>
            <a:ext cx="1088136" cy="1920240"/>
          </a:xfrm>
          <a:prstGeom prst="rect">
            <a:avLst/>
          </a:prstGeom>
          <a:solidFill>
            <a:srgbClr val="5B8DB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39796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39796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24328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33472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vfold_cv()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mc_cv()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93592" y="1828800"/>
            <a:ext cx="54864" cy="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39312" y="1764792"/>
            <a:ext cx="9144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39896" y="868680"/>
            <a:ext cx="1088136" cy="1920240"/>
          </a:xfrm>
          <a:prstGeom prst="rect">
            <a:avLst/>
          </a:prstGeom>
          <a:solidFill>
            <a:srgbClr val="7B3F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01084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01084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85616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via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794760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tune_grid()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tune_sim_anneal()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828800"/>
            <a:ext cx="54864" cy="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1764792"/>
            <a:ext cx="9144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01184" y="868680"/>
            <a:ext cx="1088136" cy="1920240"/>
          </a:xfrm>
          <a:prstGeom prst="rect">
            <a:avLst/>
          </a:prstGeom>
          <a:solidFill>
            <a:srgbClr val="C05C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262372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62372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46904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56048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select_best()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select_by_one_std_rule()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16168" y="1828800"/>
            <a:ext cx="54864" cy="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61888" y="1764792"/>
            <a:ext cx="9144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62472" y="868680"/>
            <a:ext cx="1088136" cy="1920240"/>
          </a:xfrm>
          <a:prstGeom prst="rect">
            <a:avLst/>
          </a:prstGeom>
          <a:solidFill>
            <a:srgbClr val="2D7D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23660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23660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08192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Full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117336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finalize_workflow()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last_fit()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077456" y="1828800"/>
            <a:ext cx="54864" cy="0"/>
          </a:xfrm>
          <a:prstGeom prst="line">
            <a:avLst/>
          </a:prstGeom>
          <a:noFill/>
          <a:ln w="228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23176" y="1764792"/>
            <a:ext cx="9144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23760" y="868680"/>
            <a:ext cx="1088136" cy="1920240"/>
          </a:xfrm>
          <a:prstGeom prst="rect">
            <a:avLst/>
          </a:prstGeom>
          <a:solidFill>
            <a:srgbClr val="8B1A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84948" y="94183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84948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269480" y="1371600"/>
            <a:ext cx="996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Set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278624" y="1965960"/>
            <a:ext cx="978408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collect_metrics()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collect_predictions()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86000" y="2990088"/>
            <a:ext cx="4572000" cy="621792"/>
          </a:xfrm>
          <a:prstGeom prst="rect">
            <a:avLst/>
          </a:prstGeom>
          <a:solidFill>
            <a:srgbClr val="F6C90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286000" y="2990088"/>
            <a:ext cx="4572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model fitted to training data, evaluated on held-out test data, ready for incoming observations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0" y="2807208"/>
            <a:ext cx="0" cy="164592"/>
          </a:xfrm>
          <a:prstGeom prst="line">
            <a:avLst/>
          </a:prstGeom>
          <a:noFill/>
          <a:ln w="1905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56032" y="2990088"/>
            <a:ext cx="1901952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92608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options: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 · Monte Carlo CV · Bootstrap CV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986016" y="2990088"/>
            <a:ext cx="1901952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22592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goal: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+ lowest variance across folds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Here: Three Primary Signals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→ Feature count → Outcome type drive the first model choice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74520" cy="41148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1005840"/>
            <a:ext cx="1874520" cy="41148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4028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1874520" cy="41148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005840"/>
            <a:ext cx="1874520" cy="41148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1874520" cy="704088"/>
          </a:xfrm>
          <a:prstGeom prst="rect">
            <a:avLst/>
          </a:prstGeom>
          <a:solidFill>
            <a:srgbClr val="028090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508760"/>
            <a:ext cx="187452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cases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1508760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1508760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40280" y="150876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features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50876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150876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Elastic Net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40280" y="1860804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0" y="1860804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860804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0280" y="1860804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features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1860804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1860804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267712"/>
            <a:ext cx="1874520" cy="1056132"/>
          </a:xfrm>
          <a:prstGeom prst="rect">
            <a:avLst/>
          </a:prstGeom>
          <a:solidFill>
            <a:srgbClr val="1B2B5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267712"/>
            <a:ext cx="1874520" cy="1056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2k–10k cases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2267712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06240" y="2267712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2267712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40280" y="2267712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features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06240" y="2267712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2267712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Random Forest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40280" y="2619756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206240" y="2619756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72200" y="2619756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40280" y="2619756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features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206240" y="2619756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2619756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· SVM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240280" y="2971800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206240" y="2971800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72200" y="2971800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240280" y="297180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features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06240" y="297180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72200" y="297180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· XGBoost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378708"/>
            <a:ext cx="1874520" cy="1408176"/>
          </a:xfrm>
          <a:prstGeom prst="rect">
            <a:avLst/>
          </a:prstGeom>
          <a:solidFill>
            <a:srgbClr val="2C5F7A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3378708"/>
            <a:ext cx="1874520" cy="140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10,000 cases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40280" y="3378708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206240" y="3378708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72200" y="3378708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240280" y="3378708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206240" y="3378708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72200" y="3378708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· XGBoost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40280" y="3730752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206240" y="3730752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172200" y="3730752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240280" y="3730752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206240" y="3730752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(&gt;10 cls)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172200" y="3730752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(MLP/Keras)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240280" y="4082796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206240" y="4082796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172200" y="4082796"/>
            <a:ext cx="1874520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240280" y="4082796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206240" y="4082796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(≤10 cls)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172200" y="4082796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Elastic Net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240280" y="4434840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206240" y="4434840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172200" y="4434840"/>
            <a:ext cx="1874520" cy="3520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240280" y="443484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206240" y="443484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172200" y="4434840"/>
            <a:ext cx="1874520" cy="352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· XGBoost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74320" y="4878324"/>
            <a:ext cx="8595360" cy="347472"/>
          </a:xfrm>
          <a:prstGeom prst="rect">
            <a:avLst/>
          </a:prstGeom>
          <a:solidFill>
            <a:srgbClr val="F6C90E">
              <a:alpha val="75000"/>
            </a:srgbClr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4878324"/>
            <a:ext cx="8412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Moderate/severe missingness? → Use Random Forest — it handles missing data without imputation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Profiles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321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9748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2926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2697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(glmnet)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124712"/>
            <a:ext cx="255117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interpretable · handles many features · regularization
</a:t>
            </a: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boundaries only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size, high features, continuous or binary/multinomial outcome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27248" y="804672"/>
            <a:ext cx="269748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27248" y="804672"/>
            <a:ext cx="2697480" cy="292608"/>
          </a:xfrm>
          <a:prstGeom prst="rect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27248" y="804672"/>
            <a:ext cx="2697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124712"/>
            <a:ext cx="255117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interpretable · handles missingness · no scaling needed
</a:t>
            </a: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variance, overfits easily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data, teaching, quick baseline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34456" y="804672"/>
            <a:ext cx="269748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34456" y="804672"/>
            <a:ext cx="2697480" cy="292608"/>
          </a:xfrm>
          <a:prstGeom prst="rect">
            <a:avLst/>
          </a:prstGeom>
          <a:solidFill>
            <a:srgbClr val="2D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34456" y="804672"/>
            <a:ext cx="2697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07608" y="1124712"/>
            <a:ext cx="255117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· handles missingness · no tuning of depth needed
</a:t>
            </a: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predict, black-box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data, tabular, mixed types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269748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148840"/>
            <a:ext cx="2697480" cy="292608"/>
          </a:xfrm>
          <a:prstGeom prst="rect">
            <a:avLst/>
          </a:prstGeom>
          <a:solidFill>
            <a:srgbClr val="7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148840"/>
            <a:ext cx="2697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2468880"/>
            <a:ext cx="255117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wide data (p &gt;&gt; n) · kernel tricks
</a:t>
            </a: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n · probability calibration needed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outcome, high feature count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2148840"/>
            <a:ext cx="269748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27248" y="2148840"/>
            <a:ext cx="2697480" cy="292608"/>
          </a:xfrm>
          <a:prstGeom prst="rect">
            <a:avLst/>
          </a:prstGeom>
          <a:solidFill>
            <a:srgbClr val="C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27248" y="2148840"/>
            <a:ext cx="2697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468880"/>
            <a:ext cx="255117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tabular accuracy · handles complex interactions · fast
</a:t>
            </a: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 · needs tuning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Large/medium, tabular data, any outcome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34456" y="2148840"/>
            <a:ext cx="2697480" cy="1234440"/>
          </a:xfrm>
          <a:prstGeom prst="rect">
            <a:avLst/>
          </a:prstGeom>
          <a:solidFill>
            <a:srgbClr val="FAFB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34456" y="2148840"/>
            <a:ext cx="2697480" cy="292608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34456" y="2148840"/>
            <a:ext cx="2697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(MLP/Keras)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07608" y="2468880"/>
            <a:ext cx="255117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(many classes) · image/text · transfer learning
</a:t>
            </a: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n · many hyperparameters · less interpretable
</a:t>
            </a: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n, multinomial (&gt; 10 classes), images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a Tuning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vs. exploitation — every strategy makes a different tradeoff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9144" cy="14630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77656" y="1069848"/>
            <a:ext cx="9144" cy="14630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Pure Exploration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Exploitation →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182880" cy="182880"/>
          </a:xfrm>
          <a:prstGeom prst="ellipse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0" cy="228600"/>
          </a:xfrm>
          <a:prstGeom prst="line">
            <a:avLst/>
          </a:prstGeom>
          <a:noFill/>
          <a:ln w="15240">
            <a:solidFill>
              <a:srgbClr val="5B8D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2057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2057400" cy="320040"/>
          </a:xfrm>
          <a:prstGeom prst="rect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810512"/>
            <a:ext cx="19202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— every combo.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but expensive.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only for ≤ 2 params.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2057400" cy="502920"/>
          </a:xfrm>
          <a:prstGeom prst="rect">
            <a:avLst/>
          </a:prstGeom>
          <a:solidFill>
            <a:srgbClr val="5B8DB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Simple, cheap models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105156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1234440"/>
            <a:ext cx="0" cy="228600"/>
          </a:xfrm>
          <a:prstGeom prst="line">
            <a:avLst/>
          </a:prstGeom>
          <a:noFill/>
          <a:ln w="1524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23160" y="1463040"/>
            <a:ext cx="2057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23160" y="1463040"/>
            <a:ext cx="2057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Hypercube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Space-Filling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96312" y="1810512"/>
            <a:ext cx="19202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but balanced.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parameter space well.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default starting point.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23160" y="3291840"/>
            <a:ext cx="2057400" cy="50292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78024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First pass, any model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182880" cy="182880"/>
          </a:xfrm>
          <a:prstGeom prst="ellipse">
            <a:avLst/>
          </a:prstGeom>
          <a:solidFill>
            <a:srgbClr val="7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1234440"/>
            <a:ext cx="0" cy="228600"/>
          </a:xfrm>
          <a:prstGeom prst="line">
            <a:avLst/>
          </a:prstGeom>
          <a:noFill/>
          <a:ln w="15240">
            <a:solidFill>
              <a:srgbClr val="7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463040"/>
            <a:ext cx="2057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463040"/>
            <a:ext cx="2057400" cy="320040"/>
          </a:xfrm>
          <a:prstGeom prst="rect">
            <a:avLst/>
          </a:prstGeom>
          <a:solidFill>
            <a:srgbClr val="7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1810512"/>
            <a:ext cx="19202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adaptive.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worse solutions early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(escapes local minima).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to exploitation 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"temperature" cools.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91840"/>
            <a:ext cx="2057400" cy="502920"/>
          </a:xfrm>
          <a:prstGeom prst="rect">
            <a:avLst/>
          </a:prstGeom>
          <a:solidFill>
            <a:srgbClr val="7B3FA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18304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Complex surfaces, XGBoost,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03720" y="1051560"/>
            <a:ext cx="182880" cy="18288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95160" y="1234440"/>
            <a:ext cx="0" cy="228600"/>
          </a:xfrm>
          <a:prstGeom prst="line">
            <a:avLst/>
          </a:prstGeom>
          <a:noFill/>
          <a:ln w="15240">
            <a:solidFill>
              <a:srgbClr val="1B2B5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1463040"/>
            <a:ext cx="2057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66560" y="1463040"/>
            <a:ext cx="2057400" cy="3200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6656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39712" y="1810512"/>
            <a:ext cx="19202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surrogate model of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surface.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Smarts: focuses 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regions quickly.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3291840"/>
            <a:ext cx="2057400" cy="502920"/>
          </a:xfrm>
          <a:prstGeom prst="rect">
            <a:avLst/>
          </a:prstGeom>
          <a:solidFill>
            <a:srgbClr val="1B2B5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21424" y="329184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Expensive evaluations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7B3FA0">
              <a:alpha val="12000"/>
            </a:srgbClr>
          </a:solidFill>
          <a:ln w="9525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1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(tune_sim_anneal()) is our primary adaptive strategy — it iterates from a good starting point (e.g. Latin hypercube result) and thermally schedules exploration→exploitation.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Prediction: Quantifying Uncertainty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321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206240"/>
          </a:xfrm>
          <a:prstGeom prst="rect">
            <a:avLst/>
          </a:prstGeom>
          <a:solidFill>
            <a:srgbClr val="FFF8F8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Point Predictions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3749040" cy="3703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a single probability:
</a:t>
            </a:r>
            <a:r>
              <a:rPr lang="en-US" sz="16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P(pass) = 0.73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does 0.73 mean for
</a:t>
            </a: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specific student?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(XGBoost, neural nets)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miscalibrated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overconfident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 regions, uncertain in others.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audit.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777240"/>
            <a:ext cx="4389120" cy="4206240"/>
          </a:xfrm>
          <a:prstGeom prst="rect">
            <a:avLst/>
          </a:prstGeom>
          <a:solidFill>
            <a:srgbClr val="F0FAF8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777240"/>
            <a:ext cx="4389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21615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47488" y="12161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Nonconformity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47488" y="14630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1 − p̂(true class)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"surprising" an obs is.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208483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47488" y="20848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3317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scores on held-out data.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quantile q̂ at level (1−α).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95351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29535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47488" y="3200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class k if 1 − p̂(k) ≤ q̂.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{pass}, {fail}, or {pass, fail}.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82219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38221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Guarantee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7488" y="40690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P(true label ∈ set) ≥ 1−α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Finite-sample, distribution-free.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681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→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4681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{pass}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4681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→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4681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{fail}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681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→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60720" y="4681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{pass, fail}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681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→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46817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 &amp; Subgroup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and gender can be withheld as predictors — reserved for post-hoc auditing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365760"/>
          </a:xfrm>
          <a:prstGeom prst="rect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88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2606040" cy="2514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positive prediction rates across groups.
</a:t>
            </a:r>
            <a:r>
              <a:rPr lang="en-US" sz="10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
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P(ŷ=1) between groups
</a:t>
            </a:r>
            <a:r>
              <a:rPr lang="en-US" sz="10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Tradeoff
</a:t>
            </a: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sacrifice accuracy for one group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2788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Equalized Odds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417320"/>
            <a:ext cx="2606040" cy="2514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sensitivity AND specificity across groups.
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
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Δ sensitivity, max Δ specificity
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Tradeoff
</a:t>
            </a: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— often impossible to fully satisfy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88920" cy="365760"/>
          </a:xfrm>
          <a:prstGeom prst="rect">
            <a:avLst/>
          </a:prstGeom>
          <a:solidFill>
            <a:srgbClr val="7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005840"/>
            <a:ext cx="2788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417320"/>
            <a:ext cx="2606040" cy="2514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precision (PPV) across groups.
</a:t>
            </a:r>
            <a:r>
              <a:rPr lang="en-US" sz="105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
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precision across groups
</a:t>
            </a:r>
            <a:r>
              <a:rPr lang="en-US" sz="105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Tradeoff
</a:t>
            </a: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allow unequal error rates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E05C5C">
              <a:alpha val="12000"/>
            </a:srgbClr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133088"/>
            <a:ext cx="8321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Impossibility Result: Demographic parity, equalized odds, and predictive parity cannot all hold simultaneously (except in degenerate cases). Choosing a criterion is a value judgment, not a statistical one.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Toolkit: sensitivity, specificity, ROC AUC, confusion matrices — all computed per subgroup via group_by() + map()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77724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2k → CART / Elastic Net   ·   2k–10k → Forest / SVM   ·   &gt; 10k → XGBoost / Neural Net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80744"/>
            <a:ext cx="411480" cy="411480"/>
          </a:xfrm>
          <a:prstGeom prst="ellipse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3807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features?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1380744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→ tree-based fine   ·   ≥ 50 → Elastic Net or SVM for wide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837944"/>
            <a:ext cx="841248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984248"/>
            <a:ext cx="411480" cy="411480"/>
          </a:xfrm>
          <a:prstGeom prst="ellipse">
            <a:avLst/>
          </a:prstGeom>
          <a:solidFill>
            <a:srgbClr val="7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1984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outcome?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198424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SVM / XGBoost   ·   Multinomial (&gt; 10 classes) → Neural Net   ·   Continuous → Elastic Net / XGBoost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41448"/>
            <a:ext cx="841248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587752"/>
            <a:ext cx="411480" cy="411480"/>
          </a:xfrm>
          <a:prstGeom prst="ellipse">
            <a:avLst/>
          </a:prstGeom>
          <a:solidFill>
            <a:srgbClr val="2D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2587752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Moderate/severe → Random Forest handles it without imputation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044952"/>
            <a:ext cx="841248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191256"/>
            <a:ext cx="411480" cy="411480"/>
          </a:xfrm>
          <a:prstGeom prst="ellipse">
            <a:avLst/>
          </a:prstGeom>
          <a:solidFill>
            <a:srgbClr val="C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1912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how?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319125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Latin hypercube grid_space_filling()   ·   Refine: tune_sim_anneal() (adaptive, escapes local optima)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648456"/>
            <a:ext cx="841248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80360" y="379476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conformal prediction sets (probably pkg) — formal P(true label ∈ set) ≥ 1−α guarantee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251960"/>
            <a:ext cx="841248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4398264"/>
            <a:ext cx="411480" cy="411480"/>
          </a:xfrm>
          <a:prstGeom prst="ellipse">
            <a:avLst/>
          </a:prstGeom>
          <a:solidFill>
            <a:srgbClr val="F6C9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398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6112" y="4398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80360" y="4398264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 key group identifiers from model   ·   Compute sensitivity, specificity, ROC AUC per subgroup post-hoc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1205</Words>
  <Application>Microsoft Macintosh PowerPoint</Application>
  <PresentationFormat>On-screen Show (16:9)</PresentationFormat>
  <Paragraphs>206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Model Should I Use?</dc:title>
  <dc:subject>PptxGenJS Presentation</dc:subject>
  <dc:creator>Will Doyle</dc:creator>
  <cp:lastModifiedBy>Doyle, Will</cp:lastModifiedBy>
  <cp:revision>3</cp:revision>
  <dcterms:created xsi:type="dcterms:W3CDTF">2026-04-21T19:42:15Z</dcterms:created>
  <dcterms:modified xsi:type="dcterms:W3CDTF">2026-04-21T19:49:27Z</dcterms:modified>
</cp:coreProperties>
</file>