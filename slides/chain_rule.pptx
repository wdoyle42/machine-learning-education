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33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Chain Rule &amp;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4CF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Neural Networks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single-variable calculus to learning at scale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73736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1: The Chain Rule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28346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calculus review — and why it matters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Derivatives: Rates of Change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derivative of f at x measures how sensitive the output is to a small change in x: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6400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1328" y="1609344"/>
            <a:ext cx="6181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f'(x)  =  df/dx  =  lim[h→0]  (f(x+h) − f(x)) / 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intuition: if f'(x) = 3, then a nudge of Δx produces roughly 3·Δx change in f(x).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840480" cy="658368"/>
          </a:xfrm>
          <a:prstGeom prst="rect">
            <a:avLst/>
          </a:prstGeom>
          <a:solidFill>
            <a:srgbClr val="E8EDF2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04495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xⁿ</a:t>
            </a: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→    </a:t>
            </a:r>
            <a:r>
              <a:rPr lang="en-US" sz="16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f'(x) = n xⁿ⁻¹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3840480" cy="658368"/>
          </a:xfrm>
          <a:prstGeom prst="rect">
            <a:avLst/>
          </a:prstGeom>
          <a:solidFill>
            <a:srgbClr val="E8EDF2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82219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eˣ</a:t>
            </a: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→    </a:t>
            </a:r>
            <a:r>
              <a:rPr lang="en-US" sz="16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f'(x) = eˣ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971800"/>
            <a:ext cx="3840480" cy="658368"/>
          </a:xfrm>
          <a:prstGeom prst="rect">
            <a:avLst/>
          </a:prstGeom>
          <a:solidFill>
            <a:srgbClr val="E8EDF2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304495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ln(x)</a:t>
            </a: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→    </a:t>
            </a:r>
            <a:r>
              <a:rPr lang="en-US" sz="16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f'(x) = 1/x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3749040"/>
            <a:ext cx="3840480" cy="658368"/>
          </a:xfrm>
          <a:prstGeom prst="rect">
            <a:avLst/>
          </a:prstGeom>
          <a:solidFill>
            <a:srgbClr val="E8EDF2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382219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sin(x)</a:t>
            </a: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→    </a:t>
            </a:r>
            <a:r>
              <a:rPr lang="en-US" sz="16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f'(x) = cos(x)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Composed Functions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real-world functions are built by composing simpler ones.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194560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1965960"/>
            <a:ext cx="73152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0" y="1600200"/>
            <a:ext cx="2194560" cy="7315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0" y="1600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g(x)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52160" y="1965960"/>
            <a:ext cx="73152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1600200"/>
            <a:ext cx="219456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6002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f(u)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3591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3591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fn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3591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fn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 y = f(g(x)),  read as f-of-g-of-x: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743200" y="3291840"/>
            <a:ext cx="36576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52928" y="3346704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f(g(x))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y = sin(x²)  has  g(x) = x²  and  f(u) = sin(u)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Chain Rule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 = f(g(x)), the derivative of y with respect to x is: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97280" y="1508760"/>
            <a:ext cx="694944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6949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CF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dy/dx  =  (df/du) · (du/dx)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0" y="2651760"/>
            <a:ext cx="45720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95728" y="2706624"/>
            <a:ext cx="43525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y'  =  f'(g(x)) · g'(x)  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3319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(prime) notation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recipe:  derivative of the outside (leave inside alone) x derivative of the inside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FDE8DE"/>
          </a:solidFill>
          <a:ln w="1905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35254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</a:t>
            </a:r>
            <a:r>
              <a:rPr lang="en-US" sz="18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sin(x²)    →    dy/dx = cos(x²) · 2x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Chaining More Than Two Functions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extends naturally to any depth of composition: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0" y="1508760"/>
            <a:ext cx="365760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52928" y="1563624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f(g(h(x)))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7315200" cy="777240"/>
          </a:xfrm>
          <a:prstGeom prst="rect">
            <a:avLst/>
          </a:prstGeom>
          <a:solidFill>
            <a:srgbClr val="1B2A4A"/>
          </a:solidFill>
          <a:ln w="254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386584"/>
            <a:ext cx="709574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CF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dy/dx  =  (df/dg) · (dg/dh) · (dh/dx)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'link' in the chain multiplies. The derivatives flow backward from output to input.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1828800" cy="685800"/>
          </a:xfrm>
          <a:prstGeom prst="rect">
            <a:avLst/>
          </a:prstGeom>
          <a:solidFill>
            <a:srgbClr val="E8EDF2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4183380"/>
            <a:ext cx="36576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0" y="3840480"/>
            <a:ext cx="18288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0" y="3840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h(x)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9120" y="4183380"/>
            <a:ext cx="36576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3840480"/>
            <a:ext cx="18288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3840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g(h(x))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4183380"/>
            <a:ext cx="36576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49440" y="3840480"/>
            <a:ext cx="18288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9440" y="3840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f(...)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flow this direction  ←←←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73736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2: Neural Network Architecture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28346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feedforward net is structured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Feedforward Neural Network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Layer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2651760" cy="1005840"/>
          </a:xfrm>
          <a:prstGeom prst="rect">
            <a:avLst/>
          </a:prstGeom>
          <a:solidFill>
            <a:srgbClr val="E8EDF2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x₁, x₂, …, xₚ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1760220"/>
            <a:ext cx="27432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Layer(s)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1536192"/>
            <a:ext cx="2651760" cy="1005840"/>
          </a:xfrm>
          <a:prstGeom prst="rect">
            <a:avLst/>
          </a:prstGeom>
          <a:solidFill>
            <a:srgbClr val="E8EDF2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Activations: ReLU, sigmoid, tanh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760220"/>
            <a:ext cx="27432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517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005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Layer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1536192"/>
            <a:ext cx="2651760" cy="1005840"/>
          </a:xfrm>
          <a:prstGeom prst="rect">
            <a:avLst/>
          </a:prstGeom>
          <a:solidFill>
            <a:srgbClr val="E8EDF2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(class probs)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linear (regression)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697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neuron computes a weighted sum followed by a nonlinear activation: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371600" y="3200400"/>
            <a:ext cx="64008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81328" y="3255264"/>
            <a:ext cx="6181344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aⱼ  =  σ( Σᵢ wᵢⱼ · xᵢ  +  bⱼ 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wᵢⱼ</a:t>
            </a:r>
            <a:r>
              <a:rPr lang="en-US" sz="14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weight from neuron i to j    </a:t>
            </a:r>
            <a:r>
              <a:rPr lang="en-US" sz="14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bⱼ</a:t>
            </a:r>
            <a:r>
              <a:rPr lang="en-US" sz="14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bias    </a:t>
            </a:r>
            <a:r>
              <a:rPr lang="en-US" sz="14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14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activation function</a:t>
            </a:r>
            <a:endParaRPr lang="en-US" sz="1400" dirty="0"/>
          </a:p>
        </p:txBody>
      </p:sp>
      <p:sp>
        <p:nvSpPr>
          <p:cNvPr id="22" name="Text 20">
            <a:hlinkClick r:id=""/>
          </p:cNvPr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See 3Blue1Brown But what is a Neural Network? → </a:t>
            </a:r>
            <a:r>
              <a:rPr lang="en-US" sz="1200" u="sng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https://www.youtube.com/watch?v=aircAruvnKk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Forward Pass — Layer by Layer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network with L layers, we compute activations sequentially: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371600" cy="74980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1554480"/>
            <a:ext cx="69494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20240" y="1609344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z⁽¹⁾ = W⁽¹⁾x + b⁽¹⁾          a⁽¹⁾ = σ(z⁽¹⁾)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1371600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83080" y="2514600"/>
            <a:ext cx="69494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20240" y="2569464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z⁽ˡ⁾ = W⁽ˡ⁾a⁽ˡ⁻¹⁾ + b⁽ˡ⁾     a⁽ˡ⁾ = σ(z⁽ˡ⁾)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13716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83080" y="3474720"/>
            <a:ext cx="69494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20240" y="3529584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   = a⁽ᴸ⁾  =  softmax(z⁽ᴸ⁾)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W⁽ˡ⁾</a:t>
            </a:r>
            <a:r>
              <a:rPr lang="en-US" sz="13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weight matrix for layer ℓ     </a:t>
            </a:r>
            <a:r>
              <a:rPr lang="en-US" sz="13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z⁽ˡ⁾</a:t>
            </a:r>
            <a:r>
              <a:rPr lang="en-US" sz="13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pre-activation     </a:t>
            </a:r>
            <a:r>
              <a:rPr lang="en-US" sz="135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a⁽ˡ⁾</a:t>
            </a:r>
            <a:r>
              <a:rPr lang="en-US" sz="135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post-activation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pure function composition — exactly the setting where the chain rule applies.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Loss Function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= adjusting weights to minimize prediction error, measured by a loss L: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(classification)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11480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2066544"/>
            <a:ext cx="3895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− Σₖ yₖ log(ŷₖ)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1480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(regression)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411480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2066544"/>
            <a:ext cx="3895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(1/n) Σᵢ (yᵢ − ŷᵢ)²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computation from input to loss is one big composite function: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84124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3483864"/>
            <a:ext cx="8193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Loss( σ( W⁽ᴸ⁾ · σ( W⁽ᴸ⁻¹⁾ · … · σ( W⁽¹⁾x + b⁽¹⁾ ) … ) + b⁽ᴸ⁾ ) 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∂L/∂w for every weight w in the network.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73736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3: Backpropagation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28346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4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rule, applied layer by layer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Insight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CF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Backpropagation</a:t>
            </a: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just the chain rule,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 repeatedly from output back to input.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weight wᵢⱼ in layer ℓ: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3163824"/>
            <a:ext cx="7461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∂L/∂wᵢⱼ  =  (∂L/∂a⁽ˡ⁾)·(∂a⁽ˡ⁾/∂z⁽ˡ⁾)·(∂z⁽ˡ⁾/∂wᵢⱼ)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00507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above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400507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400507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aᵢ⁽ˡ⁻¹⁾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(prev. activation)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Gradient at the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the loss and work backwards. For cross-entropy + softmax: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0" y="1508760"/>
            <a:ext cx="548640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38528" y="1563624"/>
            <a:ext cx="5266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δ⁽ᴸ⁾  ≡  ∂L/∂z⁽ᴸ⁾  =  ŷ − 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signal at output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</a:t>
            </a:r>
            <a:r>
              <a:rPr lang="en-US" sz="15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predicted probabilities     </a:t>
            </a:r>
            <a:r>
              <a:rPr lang="en-US" sz="15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lang="en-US" sz="15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one-hot true labels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error is simply the residual ŷ − y — is a direct consequence of the chain rule combined with the log in cross-entropy.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with respect to the output layer's weights is then: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286000" y="4206240"/>
            <a:ext cx="45720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95728" y="4261104"/>
            <a:ext cx="4352544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∂L/∂W⁽ᴸ⁾  =  δ⁽ᴸ⁾ · (a⁽ᴸ⁻¹⁾)ᵀ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Propagate the Error Backward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signal δ is passed back through each layer using the chain rule: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563624"/>
            <a:ext cx="7461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δ⁽ˡ⁾  =  ( (W⁽ˡ⁺¹⁾)ᵀ · δ⁽ˡ⁺¹⁾ )  ⊙  σ'(z⁽ˡ⁾)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⊙ = element-wise (Hadamard) product     σ' = derivative of the activation function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09728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(W⁽ˡ⁺¹⁾)ᵀ · δ⁽ˡ⁺¹⁾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error signal from layer ℓ+1 back through the weights — the 'who contributed how much?' calculation.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931920"/>
            <a:ext cx="109728" cy="86868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9319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⊙  σ'(z⁽ˡ⁾)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42976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by the local sensitivity of the activation — if the neuron was saturated (e.g. sigmoid near 0 or 1), gradients are small.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4663440"/>
            <a:ext cx="457200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95728" y="4718304"/>
            <a:ext cx="4352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∂L/∂W⁽ˡ⁾  =  δ⁽ˡ⁾ · (a⁽ˡ⁻¹⁾)ᵀ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Backpropagation Algorithm —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30352" cy="676656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53035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86968" y="1005840"/>
            <a:ext cx="793699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pass:  </a:t>
            </a:r>
            <a:r>
              <a:rPr lang="en-US" sz="15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all z⁽ˡ⁾, a⁽ˡ⁾, and finally the loss 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530352" cy="676656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53035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86968" y="1810512"/>
            <a:ext cx="7936992" cy="676656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1856232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gradient:  </a:t>
            </a:r>
            <a:r>
              <a:rPr lang="en-US" sz="15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δ⁽ᴸ⁾ = ŷ − y at the last layer.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2615184"/>
            <a:ext cx="530352" cy="676656"/>
          </a:xfrm>
          <a:prstGeom prst="rect">
            <a:avLst/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615184"/>
            <a:ext cx="53035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86968" y="2615184"/>
            <a:ext cx="793699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2660904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Backpropagate:  </a:t>
            </a:r>
            <a:r>
              <a:rPr lang="en-US" sz="15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ℓ = L−1, …, 1:   δ⁽ˡ⁾ = (W⁽ˡ⁺¹⁾)ᵀδ⁽ˡ⁺¹⁾ ⊙ σ'(z⁽ˡ⁾)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3419856"/>
            <a:ext cx="530352" cy="676656"/>
          </a:xfrm>
          <a:prstGeom prst="rect">
            <a:avLst/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419856"/>
            <a:ext cx="53035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86968" y="3419856"/>
            <a:ext cx="7936992" cy="676656"/>
          </a:xfrm>
          <a:prstGeom prst="rect">
            <a:avLst/>
          </a:prstGeom>
          <a:solidFill>
            <a:srgbClr val="E8EDF2"/>
          </a:solidFill>
          <a:ln w="63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3465576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gradients:  </a:t>
            </a:r>
            <a:r>
              <a:rPr lang="en-US" sz="15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∂L/∂W⁽ˡ⁾ = δ⁽ˡ⁾(a⁽ˡ⁻¹⁾)ᵀ     ∂L/∂b⁽ˡ⁾ = δ⁽ˡ⁾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" y="4224528"/>
            <a:ext cx="530352" cy="676656"/>
          </a:xfrm>
          <a:prstGeom prst="rect">
            <a:avLst/>
          </a:prstGeom>
          <a:solidFill>
            <a:srgbClr val="E05C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224528"/>
            <a:ext cx="53035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6968" y="4224528"/>
            <a:ext cx="7936992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427024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weights:  </a:t>
            </a:r>
            <a:r>
              <a:rPr lang="en-US" sz="15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W⁽ˡ⁾ ← W⁽ˡ⁾ − η · ∂L/∂W⁽ˡ⁾    (η = learning rate)</a:t>
            </a:r>
            <a:endParaRPr lang="en-US" sz="1500" dirty="0"/>
          </a:p>
        </p:txBody>
      </p:sp>
      <p:sp>
        <p:nvSpPr>
          <p:cNvPr id="24" name="Text 22">
            <a:hlinkClick r:id=""/>
          </p:cNvPr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Interactive visualization: </a:t>
            </a:r>
            <a:r>
              <a:rPr lang="en-US" sz="1200" u="sng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https://playground.tensorflow.org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— Single Hidden Layer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2 inputs → 2 hidden (sigmoid) → 1 output (sigmoid), MSE loss.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118872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813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36192" y="1481328"/>
            <a:ext cx="7315200" cy="594360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64208" y="1536192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z¹ = w₁x₁ + w₂x₂ + b    h = σ(z¹)    ŷ = σ(w₃h + b₂)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118872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1671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36192" y="2167128"/>
            <a:ext cx="7315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64208" y="2221992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½(y − ŷ)²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852928"/>
            <a:ext cx="118872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8529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∂L/∂ŷ: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36192" y="2852928"/>
            <a:ext cx="7315200" cy="594360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64208" y="2907792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−(y − ŷ)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538728"/>
            <a:ext cx="118872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5387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∂L/∂w₃: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536192" y="3538728"/>
            <a:ext cx="7315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64208" y="3593592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(∂L/∂ŷ)·(∂ŷ/∂z²)·h  =  −(y−ŷ)·σ'(z²)·h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4224528"/>
            <a:ext cx="1188720" cy="594360"/>
          </a:xfrm>
          <a:prstGeom prst="rect">
            <a:avLst/>
          </a:prstGeom>
          <a:solidFill>
            <a:srgbClr val="E05C2A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2245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∂L/∂w₁: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536192" y="4224528"/>
            <a:ext cx="7315200" cy="594360"/>
          </a:xfrm>
          <a:prstGeom prst="rect">
            <a:avLst/>
          </a:prstGeom>
          <a:solidFill>
            <a:srgbClr val="FDE8DE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664208" y="4279392"/>
            <a:ext cx="7086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5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(∂L/∂ŷ)·(∂ŷ/∂z²)·w₃·σ'(z¹)·x₁   ← chain rule twice!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Function Derivatives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activation σ contributes its derivative σ'(z) at every layer in the backward pass: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41732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83080" y="1508760"/>
            <a:ext cx="329184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92808" y="1563624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σ(z) = 1/(1+e⁻ᶻ)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1508760"/>
            <a:ext cx="3520440" cy="475488"/>
          </a:xfrm>
          <a:prstGeom prst="rect">
            <a:avLst/>
          </a:prstGeom>
          <a:solidFill>
            <a:srgbClr val="E8EDF2"/>
          </a:solidFill>
          <a:ln w="254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30368" y="1563624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σ'(z) = σ(z)(1 − σ(z))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2020824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for |z| large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141732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6517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83080" y="2651760"/>
            <a:ext cx="329184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92808" y="2706624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tanh(z) = (eᶻ−e⁻ᶻ)/(eᶻ+e⁻ᶻ)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2651760"/>
            <a:ext cx="3520440" cy="475488"/>
          </a:xfrm>
          <a:prstGeom prst="rect">
            <a:avLst/>
          </a:prstGeom>
          <a:solidFill>
            <a:srgbClr val="E8EDF2"/>
          </a:solidFill>
          <a:ln w="254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0368" y="2706624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tanh'(z) = 1 − tanh²(z)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3163824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Zero-centered; still vanishes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794760"/>
            <a:ext cx="1417320" cy="1005840"/>
          </a:xfrm>
          <a:prstGeom prst="rect">
            <a:avLst/>
          </a:prstGeom>
          <a:solidFill>
            <a:srgbClr val="E05C2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379476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783080" y="3794760"/>
            <a:ext cx="3291840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92808" y="3849624"/>
            <a:ext cx="30723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ReLU(z) = max(0, z)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20640" y="3794760"/>
            <a:ext cx="3520440" cy="475488"/>
          </a:xfrm>
          <a:prstGeom prst="rect">
            <a:avLst/>
          </a:prstGeom>
          <a:solidFill>
            <a:srgbClr val="E8EDF2"/>
          </a:solidFill>
          <a:ln w="254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30368" y="3849624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ReLU'(z) = 1 if z&gt;0, else 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83080" y="4306824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Sparse, fast; dead neuron risk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1607</Words>
  <Application>Microsoft Macintosh PowerPoint</Application>
  <PresentationFormat>On-screen Show (16:9)</PresentationFormat>
  <Paragraphs>163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Chain Rule &amp; Backpropagation in Neural Networks</dc:title>
  <dc:subject>PptxGenJS Presentation</dc:subject>
  <dc:creator>Will</dc:creator>
  <cp:lastModifiedBy>Doyle, Will</cp:lastModifiedBy>
  <cp:revision>2</cp:revision>
  <dcterms:created xsi:type="dcterms:W3CDTF">2026-03-24T18:25:50Z</dcterms:created>
  <dcterms:modified xsi:type="dcterms:W3CDTF">2026-03-24T18:30:26Z</dcterms:modified>
</cp:coreProperties>
</file>